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6275EF-54E0-3347-BA7A-5BD64FF1ADB2}" v="1" dt="2026-09-17T11:47:10.9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ay Trehan" userId="850b0d16-009b-4901-b5df-077c6c2f69bb" providerId="ADAL" clId="{06BA7EF6-834D-5097-A828-A5E38E38F538}"/>
    <pc:docChg chg="custSel modSld">
      <pc:chgData name="Abhay Trehan" userId="850b0d16-009b-4901-b5df-077c6c2f69bb" providerId="ADAL" clId="{06BA7EF6-834D-5097-A828-A5E38E38F538}" dt="2026-09-17T11:48:27.582" v="42" actId="14100"/>
      <pc:docMkLst>
        <pc:docMk/>
      </pc:docMkLst>
      <pc:sldChg chg="modSp mod">
        <pc:chgData name="Abhay Trehan" userId="850b0d16-009b-4901-b5df-077c6c2f69bb" providerId="ADAL" clId="{06BA7EF6-834D-5097-A828-A5E38E38F538}" dt="2026-09-17T11:45:35.273" v="11" actId="20577"/>
        <pc:sldMkLst>
          <pc:docMk/>
          <pc:sldMk cId="0" sldId="256"/>
        </pc:sldMkLst>
        <pc:spChg chg="mod">
          <ac:chgData name="Abhay Trehan" userId="850b0d16-009b-4901-b5df-077c6c2f69bb" providerId="ADAL" clId="{06BA7EF6-834D-5097-A828-A5E38E38F538}" dt="2026-09-17T11:45:35.273" v="11" actId="20577"/>
          <ac:spMkLst>
            <pc:docMk/>
            <pc:sldMk cId="0" sldId="256"/>
            <ac:spMk id="13" creationId="{00000000-0000-0000-0000-000000000000}"/>
          </ac:spMkLst>
        </pc:spChg>
      </pc:sldChg>
      <pc:sldChg chg="delSp modSp mod">
        <pc:chgData name="Abhay Trehan" userId="850b0d16-009b-4901-b5df-077c6c2f69bb" providerId="ADAL" clId="{06BA7EF6-834D-5097-A828-A5E38E38F538}" dt="2026-09-17T11:48:27.582" v="42" actId="14100"/>
        <pc:sldMkLst>
          <pc:docMk/>
          <pc:sldMk cId="0" sldId="267"/>
        </pc:sldMkLst>
        <pc:spChg chg="mod">
          <ac:chgData name="Abhay Trehan" userId="850b0d16-009b-4901-b5df-077c6c2f69bb" providerId="ADAL" clId="{06BA7EF6-834D-5097-A828-A5E38E38F538}" dt="2026-09-17T11:48:00.209" v="37" actId="20577"/>
          <ac:spMkLst>
            <pc:docMk/>
            <pc:sldMk cId="0" sldId="267"/>
            <ac:spMk id="3" creationId="{00000000-0000-0000-0000-000000000000}"/>
          </ac:spMkLst>
        </pc:spChg>
        <pc:spChg chg="mod">
          <ac:chgData name="Abhay Trehan" userId="850b0d16-009b-4901-b5df-077c6c2f69bb" providerId="ADAL" clId="{06BA7EF6-834D-5097-A828-A5E38E38F538}" dt="2026-09-17T11:48:05.582" v="38" actId="14100"/>
          <ac:spMkLst>
            <pc:docMk/>
            <pc:sldMk cId="0" sldId="267"/>
            <ac:spMk id="4" creationId="{00000000-0000-0000-0000-000000000000}"/>
          </ac:spMkLst>
        </pc:spChg>
        <pc:spChg chg="mod">
          <ac:chgData name="Abhay Trehan" userId="850b0d16-009b-4901-b5df-077c6c2f69bb" providerId="ADAL" clId="{06BA7EF6-834D-5097-A828-A5E38E38F538}" dt="2026-09-17T11:48:21.549" v="41" actId="14100"/>
          <ac:spMkLst>
            <pc:docMk/>
            <pc:sldMk cId="0" sldId="267"/>
            <ac:spMk id="7" creationId="{00000000-0000-0000-0000-000000000000}"/>
          </ac:spMkLst>
        </pc:spChg>
        <pc:spChg chg="mod">
          <ac:chgData name="Abhay Trehan" userId="850b0d16-009b-4901-b5df-077c6c2f69bb" providerId="ADAL" clId="{06BA7EF6-834D-5097-A828-A5E38E38F538}" dt="2026-09-17T11:48:14.782" v="40" actId="14100"/>
          <ac:spMkLst>
            <pc:docMk/>
            <pc:sldMk cId="0" sldId="267"/>
            <ac:spMk id="9" creationId="{00000000-0000-0000-0000-000000000000}"/>
          </ac:spMkLst>
        </pc:spChg>
        <pc:spChg chg="mod">
          <ac:chgData name="Abhay Trehan" userId="850b0d16-009b-4901-b5df-077c6c2f69bb" providerId="ADAL" clId="{06BA7EF6-834D-5097-A828-A5E38E38F538}" dt="2026-09-17T11:48:27.582" v="42" actId="14100"/>
          <ac:spMkLst>
            <pc:docMk/>
            <pc:sldMk cId="0" sldId="267"/>
            <ac:spMk id="10" creationId="{00000000-0000-0000-0000-000000000000}"/>
          </ac:spMkLst>
        </pc:spChg>
        <pc:spChg chg="mod">
          <ac:chgData name="Abhay Trehan" userId="850b0d16-009b-4901-b5df-077c6c2f69bb" providerId="ADAL" clId="{06BA7EF6-834D-5097-A828-A5E38E38F538}" dt="2026-09-17T11:47:52.086" v="36" actId="1076"/>
          <ac:spMkLst>
            <pc:docMk/>
            <pc:sldMk cId="0" sldId="267"/>
            <ac:spMk id="13" creationId="{00000000-0000-0000-0000-000000000000}"/>
          </ac:spMkLst>
        </pc:spChg>
        <pc:spChg chg="del">
          <ac:chgData name="Abhay Trehan" userId="850b0d16-009b-4901-b5df-077c6c2f69bb" providerId="ADAL" clId="{06BA7EF6-834D-5097-A828-A5E38E38F538}" dt="2026-09-17T11:46:10.739" v="12" actId="478"/>
          <ac:spMkLst>
            <pc:docMk/>
            <pc:sldMk cId="0" sldId="267"/>
            <ac:spMk id="14" creationId="{00000000-0000-0000-0000-000000000000}"/>
          </ac:spMkLst>
        </pc:spChg>
        <pc:spChg chg="del">
          <ac:chgData name="Abhay Trehan" userId="850b0d16-009b-4901-b5df-077c6c2f69bb" providerId="ADAL" clId="{06BA7EF6-834D-5097-A828-A5E38E38F538}" dt="2026-09-17T11:46:12.726" v="13" actId="478"/>
          <ac:spMkLst>
            <pc:docMk/>
            <pc:sldMk cId="0" sldId="267"/>
            <ac:spMk id="15" creationId="{00000000-0000-0000-0000-000000000000}"/>
          </ac:spMkLst>
        </pc:spChg>
        <pc:spChg chg="mod">
          <ac:chgData name="Abhay Trehan" userId="850b0d16-009b-4901-b5df-077c6c2f69bb" providerId="ADAL" clId="{06BA7EF6-834D-5097-A828-A5E38E38F538}" dt="2026-09-17T11:46:32.482" v="19" actId="1076"/>
          <ac:spMkLst>
            <pc:docMk/>
            <pc:sldMk cId="0" sldId="267"/>
            <ac:spMk id="16" creationId="{00000000-0000-0000-0000-000000000000}"/>
          </ac:spMkLst>
        </pc:spChg>
      </pc:sldChg>
      <pc:sldChg chg="modSp mod">
        <pc:chgData name="Abhay Trehan" userId="850b0d16-009b-4901-b5df-077c6c2f69bb" providerId="ADAL" clId="{06BA7EF6-834D-5097-A828-A5E38E38F538}" dt="2026-09-17T11:41:11.444" v="8" actId="20577"/>
        <pc:sldMkLst>
          <pc:docMk/>
          <pc:sldMk cId="0" sldId="268"/>
        </pc:sldMkLst>
        <pc:spChg chg="mod">
          <ac:chgData name="Abhay Trehan" userId="850b0d16-009b-4901-b5df-077c6c2f69bb" providerId="ADAL" clId="{06BA7EF6-834D-5097-A828-A5E38E38F538}" dt="2026-09-17T11:41:11.444" v="8" actId="20577"/>
          <ac:spMkLst>
            <pc:docMk/>
            <pc:sldMk cId="0" sldId="268"/>
            <ac:spMk id="1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6185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bhay2506bbafai25-web" TargetMode="External"/><Relationship Id="rId7" Type="http://schemas.openxmlformats.org/officeDocument/2006/relationships/hyperlink" Target="https://github.com/gurkimat" TargetMode="External"/><Relationship Id="rId2" Type="http://schemas.openxmlformats.org/officeDocument/2006/relationships/hyperlink" Target="https://github.com/doomraarush-sudo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junejakartik725-cell" TargetMode="External"/><Relationship Id="rId5" Type="http://schemas.openxmlformats.org/officeDocument/2006/relationships/hyperlink" Target="https://github.com/hardik2606bbafai25-spec" TargetMode="External"/><Relationship Id="rId4" Type="http://schemas.openxmlformats.org/officeDocument/2006/relationships/hyperlink" Target="https://github.com/chalanaharry-pixe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C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"/>
            <a:ext cx="12188952" cy="6858000"/>
          </a:xfrm>
          <a:prstGeom prst="rect">
            <a:avLst/>
          </a:prstGeom>
          <a:solidFill>
            <a:srgbClr val="0F2C46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8869680" y="5394960"/>
            <a:ext cx="384048" cy="457200"/>
          </a:xfrm>
          <a:prstGeom prst="rect">
            <a:avLst/>
          </a:prstGeom>
          <a:solidFill>
            <a:srgbClr val="1B3E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372600" y="5029200"/>
            <a:ext cx="384048" cy="822960"/>
          </a:xfrm>
          <a:prstGeom prst="rect">
            <a:avLst/>
          </a:prstGeom>
          <a:solidFill>
            <a:srgbClr val="1B3E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875520" y="4663440"/>
            <a:ext cx="384048" cy="1188720"/>
          </a:xfrm>
          <a:prstGeom prst="rect">
            <a:avLst/>
          </a:prstGeom>
          <a:solidFill>
            <a:srgbClr val="1B3E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378440" y="4297680"/>
            <a:ext cx="384048" cy="1554480"/>
          </a:xfrm>
          <a:prstGeom prst="rect">
            <a:avLst/>
          </a:prstGeom>
          <a:solidFill>
            <a:srgbClr val="1B3E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881360" y="3749040"/>
            <a:ext cx="384048" cy="2103120"/>
          </a:xfrm>
          <a:prstGeom prst="rect">
            <a:avLst/>
          </a:prstGeom>
          <a:solidFill>
            <a:srgbClr val="1B3E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384280" y="3200400"/>
            <a:ext cx="384048" cy="2651760"/>
          </a:xfrm>
          <a:prstGeom prst="rect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2296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CHITKARA BUSINESS SCHOOL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33172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 Digital Wealth Management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2461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Robo-Advisory Case Study — Scripbox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41248" y="3977640"/>
            <a:ext cx="2377440" cy="0"/>
          </a:xfrm>
          <a:prstGeom prst="line">
            <a:avLst/>
          </a:prstGeom>
          <a:noFill/>
          <a:ln w="2540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13540" y="4339106"/>
            <a:ext cx="8686800" cy="1476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7C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            </a:t>
            </a:r>
            <a:r>
              <a:rPr lang="en-US" sz="1050" b="1" kern="0" spc="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Abhay Trehan(2520992506), Kartik Juneja(2520992649),Harry </a:t>
            </a:r>
            <a:r>
              <a:rPr lang="en-US" sz="1050" b="1" kern="0" spc="1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chalana</a:t>
            </a:r>
            <a:r>
              <a:rPr lang="en-US" sz="1050" b="1" kern="0" spc="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(2520992611),Arush(2520992549) </a:t>
            </a:r>
          </a:p>
          <a:p>
            <a:pPr marL="0" indent="0">
              <a:buNone/>
            </a:pPr>
            <a:r>
              <a:rPr lang="en-US" sz="1050" b="1" kern="0" spc="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</a:t>
            </a:r>
          </a:p>
          <a:p>
            <a:pPr marL="0" indent="0">
              <a:buNone/>
            </a:pPr>
            <a:r>
              <a:rPr lang="en-US" sz="1050" b="1" kern="0" spc="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Hardik </a:t>
            </a:r>
            <a:r>
              <a:rPr lang="en-US" sz="1050" b="1" kern="0" spc="1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gagneja</a:t>
            </a:r>
            <a:r>
              <a:rPr lang="en-US" sz="1050" b="1" kern="0" spc="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(2520992606) , </a:t>
            </a:r>
            <a:r>
              <a:rPr lang="en-US" sz="1050" b="1" kern="0" spc="1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Gurkimat</a:t>
            </a:r>
            <a:r>
              <a:rPr lang="en-US" sz="1050" b="1" kern="0" spc="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kern="0" spc="1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singh</a:t>
            </a:r>
            <a:r>
              <a:rPr lang="en-US" sz="1050" b="1" kern="0" spc="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(2520992600)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41248" y="47274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41248" y="511149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511149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" y="54955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7C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                </a:t>
            </a:r>
            <a:r>
              <a:rPr lang="en-US" sz="1050" b="1" kern="0" spc="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ML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Scripbox — Digital Wealth Management, India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Scripbox is an online investment platform that helps everyday Indians save, invest and grow their money through curated mutual funds and goal-based financial plans — combining human advisory expertise with algorithm-driven fund selection.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6492240" cy="960120"/>
          </a:xfrm>
          <a:prstGeom prst="roundRect">
            <a:avLst>
              <a:gd name="adj" fmla="val 7619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33375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serves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63016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Salaried professionals, first-time investors and families across urban India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4343400"/>
            <a:ext cx="6492240" cy="960120"/>
          </a:xfrm>
          <a:prstGeom prst="roundRect">
            <a:avLst>
              <a:gd name="adj" fmla="val 7619"/>
            </a:avLst>
          </a:prstGeom>
          <a:solidFill>
            <a:srgbClr val="F4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77240" y="44348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offers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72744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SIPs, mutual fund portfolios, retirement, child-education and wealth-goal plans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5440680"/>
            <a:ext cx="6492240" cy="960120"/>
          </a:xfrm>
          <a:prstGeom prst="roundRect">
            <a:avLst>
              <a:gd name="adj" fmla="val 7619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77240" y="55321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competes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582472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Simplicity + low-cost, data-backed fund curation instead of manual, fee-heavy advisory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06640" y="1691640"/>
            <a:ext cx="4206240" cy="4480560"/>
          </a:xfrm>
          <a:prstGeom prst="roundRect">
            <a:avLst>
              <a:gd name="adj" fmla="val 2174"/>
            </a:avLst>
          </a:prstGeom>
          <a:solidFill>
            <a:srgbClr val="0F2C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72668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CONTEXT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726680" y="23317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India's Digital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Wealth-Tech Boom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7726680" y="342900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incomes, smartphone-first investors and SEBI-regulated robo-advisory are pushing mutual-fund platforms to automate advice at scale — while keeping it personal, transparent and compliant.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Advisor Can't Personally Profile Every Client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Scripbox scales to lakhs of investors, manually interviewing each client to judge risk appetite and manually comparing hundreds of mutual funds doesn't scale — and produces inconsistent advice from person to person.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2697480" cy="2880360"/>
          </a:xfrm>
          <a:prstGeom prst="roundRect">
            <a:avLst>
              <a:gd name="adj" fmla="val 2712"/>
            </a:avLst>
          </a:prstGeom>
          <a:solidFill>
            <a:srgbClr val="F7F8F8"/>
          </a:solidFill>
          <a:ln w="12700">
            <a:solidFill>
              <a:srgbClr val="E1E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3108960"/>
            <a:ext cx="502920" cy="502920"/>
          </a:xfrm>
          <a:prstGeom prst="ellipse">
            <a:avLst/>
          </a:prstGeom>
          <a:solidFill>
            <a:srgbClr val="0F2C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1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7947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onboarding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3891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questionnaires and advisor calls delay a client's first investment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74720" y="2834640"/>
            <a:ext cx="2697480" cy="2880360"/>
          </a:xfrm>
          <a:prstGeom prst="roundRect">
            <a:avLst>
              <a:gd name="adj" fmla="val 2712"/>
            </a:avLst>
          </a:prstGeom>
          <a:solidFill>
            <a:srgbClr val="F7F8F8"/>
          </a:solidFill>
          <a:ln w="12700">
            <a:solidFill>
              <a:srgbClr val="E1E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703320" y="3108960"/>
            <a:ext cx="502920" cy="502920"/>
          </a:xfrm>
          <a:prstGeom prst="ellipse">
            <a:avLst/>
          </a:prstGeom>
          <a:solidFill>
            <a:srgbClr val="0F2C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370332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1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37947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Inconsistent risk-tagging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43891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advisors can rate the same client differently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0" y="2834640"/>
            <a:ext cx="2697480" cy="2880360"/>
          </a:xfrm>
          <a:prstGeom prst="roundRect">
            <a:avLst>
              <a:gd name="adj" fmla="val 2712"/>
            </a:avLst>
          </a:prstGeom>
          <a:solidFill>
            <a:srgbClr val="F7F8F8"/>
          </a:solidFill>
          <a:ln w="12700">
            <a:solidFill>
              <a:srgbClr val="E1E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629400" y="3108960"/>
            <a:ext cx="502920" cy="502920"/>
          </a:xfrm>
          <a:prstGeom prst="ellipse">
            <a:avLst/>
          </a:prstGeom>
          <a:solidFill>
            <a:srgbClr val="0F2C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62940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1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37947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 overload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43891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1,000+ mutual funds make manual comparison impractical for clients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326880" y="2834640"/>
            <a:ext cx="2697480" cy="2880360"/>
          </a:xfrm>
          <a:prstGeom prst="roundRect">
            <a:avLst>
              <a:gd name="adj" fmla="val 2712"/>
            </a:avLst>
          </a:prstGeom>
          <a:solidFill>
            <a:srgbClr val="F7F8F8"/>
          </a:solidFill>
          <a:ln w="12700">
            <a:solidFill>
              <a:srgbClr val="E1E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555480" y="3108960"/>
            <a:ext cx="502920" cy="502920"/>
          </a:xfrm>
          <a:prstGeom prst="ellipse">
            <a:avLst/>
          </a:prstGeom>
          <a:solidFill>
            <a:srgbClr val="0F2C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955548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10" dirty="0"/>
          </a:p>
        </p:txBody>
      </p:sp>
      <p:sp>
        <p:nvSpPr>
          <p:cNvPr id="23" name="Text 21"/>
          <p:cNvSpPr txBox="1"/>
          <p:nvPr/>
        </p:nvSpPr>
        <p:spPr>
          <a:xfrm>
            <a:off x="9509760" y="37947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Poor retention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9509760" y="43891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Mismatched, generic advice causes clients to disengage or exit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REQUIRED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Data Streams Feed the AI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965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/ ONBOARDING DATA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68680" y="2496312"/>
            <a:ext cx="82296" cy="82296"/>
          </a:xfrm>
          <a:prstGeom prst="ellipse">
            <a:avLst/>
          </a:prstGeom>
          <a:solidFill>
            <a:srgbClr val="1C7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097280" y="24231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income &amp; number of dependents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2999232"/>
            <a:ext cx="82296" cy="82296"/>
          </a:xfrm>
          <a:prstGeom prst="ellipse">
            <a:avLst/>
          </a:prstGeom>
          <a:solidFill>
            <a:srgbClr val="1C7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97280" y="292608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investable surplus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3502152"/>
            <a:ext cx="82296" cy="82296"/>
          </a:xfrm>
          <a:prstGeom prst="ellipse">
            <a:avLst/>
          </a:prstGeom>
          <a:solidFill>
            <a:srgbClr val="1C7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097280" y="34290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investments held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4005072"/>
            <a:ext cx="82296" cy="82296"/>
          </a:xfrm>
          <a:prstGeom prst="ellipse">
            <a:avLst/>
          </a:prstGeom>
          <a:solidFill>
            <a:srgbClr val="1C7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097280" y="393192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horizon (years)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680" y="4507992"/>
            <a:ext cx="82296" cy="82296"/>
          </a:xfrm>
          <a:prstGeom prst="ellipse">
            <a:avLst/>
          </a:prstGeom>
          <a:solidFill>
            <a:srgbClr val="1C7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097280" y="44348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 to a past market drop (behavioural signal)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1737360"/>
            <a:ext cx="5440680" cy="4297680"/>
          </a:xfrm>
          <a:prstGeom prst="roundRect">
            <a:avLst>
              <a:gd name="adj" fmla="val 2128"/>
            </a:avLst>
          </a:prstGeom>
          <a:solidFill>
            <a:srgbClr val="F4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446520" y="1965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DATA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2496312"/>
            <a:ext cx="82296" cy="82296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720840" y="24231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category (Large / Mid / Small Cap, Debt, Hybrid)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92240" y="2999232"/>
            <a:ext cx="82296" cy="82296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720840" y="292608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1-, 3- and 5-year returns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92240" y="3502152"/>
            <a:ext cx="82296" cy="82296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720840" y="34290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ratio &amp; standard deviation (cost / risk)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92240" y="4005072"/>
            <a:ext cx="82296" cy="82296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720840" y="39319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 (risk-adjusted return)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92240" y="4507992"/>
            <a:ext cx="82296" cy="82296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6720840" y="44348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rating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172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real customer/fund data isn't public — the model here is demonstrated on synthetic data built to the same structure.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Models Working Together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4343400"/>
          </a:xfrm>
          <a:prstGeom prst="roundRect">
            <a:avLst>
              <a:gd name="adj" fmla="val 2105"/>
            </a:avLst>
          </a:prstGeom>
          <a:solidFill>
            <a:srgbClr val="0F2C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9659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— RANDOM FOREST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8600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Profiling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26080"/>
            <a:ext cx="4709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client onboarding data to predict whether a client is Conservative, Moderate or Aggressive — replacing manual questionnaire scoring with a consistent, data-driven decision.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14400" y="4617720"/>
            <a:ext cx="470916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914400" y="475488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FITS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502920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mixed numeric features well, resists noise, and gives explainable feature-importance scores — important for compliance.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1737360"/>
            <a:ext cx="5440680" cy="4343400"/>
          </a:xfrm>
          <a:prstGeom prst="roundRect">
            <a:avLst>
              <a:gd name="adj" fmla="val 2105"/>
            </a:avLst>
          </a:prstGeom>
          <a:solidFill>
            <a:srgbClr val="1C7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583680" y="19659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WEIGHTED SCORING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28600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 Ranking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926080"/>
            <a:ext cx="4709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and ranks every mutual fund on a weighted composite of returns, risk, cost and quality — a lighter version of the ~25-factor approach used by real robo-advisors.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83680" y="4617720"/>
            <a:ext cx="470916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583680" y="475488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FITS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502920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formula (not a black box) — every weight can be shown and justified to a client or regulator.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AI SOLUTION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Client Data to a Confident Investment Decision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874520" cy="1508760"/>
          </a:xfrm>
          <a:prstGeom prst="roundRect">
            <a:avLst>
              <a:gd name="adj" fmla="val 4848"/>
            </a:avLst>
          </a:prstGeom>
          <a:solidFill>
            <a:srgbClr val="1C7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58368" y="2514600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Data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3035808"/>
            <a:ext cx="1655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onboarding info + fund performance data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2423160" y="2377440"/>
            <a:ext cx="42291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846070" y="2377440"/>
            <a:ext cx="1874520" cy="1508760"/>
          </a:xfrm>
          <a:prstGeom prst="roundRect">
            <a:avLst>
              <a:gd name="adj" fmla="val 4848"/>
            </a:avLst>
          </a:prstGeom>
          <a:solidFill>
            <a:srgbClr val="0F2C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2955798" y="2514600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/ ML System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2955798" y="3035808"/>
            <a:ext cx="1655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+ weighted scoring engine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720590" y="2377440"/>
            <a:ext cx="42291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143500" y="2377440"/>
            <a:ext cx="1874520" cy="1508760"/>
          </a:xfrm>
          <a:prstGeom prst="roundRect">
            <a:avLst>
              <a:gd name="adj" fmla="val 4848"/>
            </a:avLst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253228" y="2514600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253228" y="3035808"/>
            <a:ext cx="1655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profile (e.g. "Moderate") + ranked fund shortlist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018020" y="2377440"/>
            <a:ext cx="42291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440930" y="2377440"/>
            <a:ext cx="1874520" cy="1508760"/>
          </a:xfrm>
          <a:prstGeom prst="roundRect">
            <a:avLst>
              <a:gd name="adj" fmla="val 4848"/>
            </a:avLst>
          </a:prstGeom>
          <a:solidFill>
            <a:srgbClr val="1C7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550658" y="2514600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Action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7550658" y="3035808"/>
            <a:ext cx="1655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matches shortlisted funds to the client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9315450" y="2377440"/>
            <a:ext cx="42291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738360" y="2377440"/>
            <a:ext cx="1874520" cy="1508760"/>
          </a:xfrm>
          <a:prstGeom prst="roundRect">
            <a:avLst>
              <a:gd name="adj" fmla="val 4848"/>
            </a:avLst>
          </a:prstGeom>
          <a:solidFill>
            <a:srgbClr val="1C7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9848088" y="2514600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Outcome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9848088" y="3035808"/>
            <a:ext cx="1655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invests via SIP with a projected wealth goal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343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Random Forest model predicts the client's risk category; the scoring engine independently ranks funds. The platform then combines both to shortlist funds matching that client's risk profile — turning raw data into a specific, explainable recommendation.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3492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777240" y="54681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CLIENT (from the demo model)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57790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29 · ₹90,000/month income · 15-year horizon · ₹25,000/month SIP  →  Predicted profile: Moderate  →  Top funds: Hybrid &amp; Large Cap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Automation Is Worth to Scripbox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457200" cy="457200"/>
          </a:xfrm>
          <a:prstGeom prst="ellipse">
            <a:avLst/>
          </a:prstGeom>
          <a:solidFill>
            <a:srgbClr val="1C7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06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onboarding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9008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profiling happens in seconds, not a phone call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78308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26280" y="2011680"/>
            <a:ext cx="457200" cy="457200"/>
          </a:xfrm>
          <a:prstGeom prst="ellipse">
            <a:avLst/>
          </a:prstGeom>
          <a:solidFill>
            <a:srgbClr val="1C7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5262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606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 advice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99008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client is scored the same objective way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78308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75320" y="2011680"/>
            <a:ext cx="457200" cy="457200"/>
          </a:xfrm>
          <a:prstGeom prst="ellipse">
            <a:avLst/>
          </a:prstGeom>
          <a:solidFill>
            <a:srgbClr val="1C7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27532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606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Personalised fit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299008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shortlist matches each client's real risk appetite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77240" y="4114800"/>
            <a:ext cx="457200" cy="457200"/>
          </a:xfrm>
          <a:prstGeom prst="ellipse">
            <a:avLst/>
          </a:prstGeom>
          <a:solidFill>
            <a:srgbClr val="1C7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772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7091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trust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509320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wealth-projection makes the plan feel concrete, not abstract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97680" y="388620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26280" y="4114800"/>
            <a:ext cx="457200" cy="457200"/>
          </a:xfrm>
          <a:prstGeom prst="ellipse">
            <a:avLst/>
          </a:prstGeom>
          <a:solidFill>
            <a:srgbClr val="1C7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452628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47091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Scales cheaply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526280" y="509320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can profile lakhs of clients, not a large advisory team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46720" y="388620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275320" y="4114800"/>
            <a:ext cx="457200" cy="457200"/>
          </a:xfrm>
          <a:prstGeom prst="ellipse">
            <a:avLst/>
          </a:prstGeom>
          <a:solidFill>
            <a:srgbClr val="1C7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827532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47091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retention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8275320" y="509320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recommendations reduce drop-off after onboarding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RISKS, ETHICS &amp; RESPONSIBLE AI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Earns Trust Only With Safeguards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6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19659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labels must be audited across age/income groups so profiling doesn't skew unfairly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97680" y="17830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6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526280" y="19659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Transparency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37744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&amp; scoring weights are shown to clients/advisors, not hidden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46720" y="17830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6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275320" y="19659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oversight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37744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 requires a human-reviewable audit trail — the model supports, not replaces, advisor sign-off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6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77240" y="4206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privacy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61772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&amp; behavioural data is sensitive — needs encryption, access control, consent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97680" y="4023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6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526280" y="4206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risk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26280" y="461772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assumptions are projections, not guarantees — mis-set expectations are a real regulatory risk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&amp; PROMPTS USED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Used Generative AI for Research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19019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ChatGPT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04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robo-advisory concepts &amp; structuring the case study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97680" y="17373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526280" y="19019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304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risk-profiling approaches and building this project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275320" y="19019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Perplexity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304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sources on Scripbox and India's wealth-tech industry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11064240" cy="2651760"/>
          </a:xfrm>
          <a:prstGeom prst="roundRect">
            <a:avLst>
              <a:gd name="adj" fmla="val 3448"/>
            </a:avLst>
          </a:prstGeom>
          <a:solidFill>
            <a:srgbClr val="F4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2296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RESEARCH PROMPT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0233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i="1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“Explain how robo-advisory platforms in India, such as Scripbox, use AI/ML for client risk profiling and mutual-fund recommendation. Include the ML technique used, business benefits, risks, and reliable sources.”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3949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scope the topic, get an accurate business-flow vocabulary, and identify what a real robo-advisor's AI/ML architecture typically includes — later verified against public sources.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IMPROVEMENT &amp; AI EVALUATION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Generic Question to a Usable Answer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2377440"/>
          </a:xfrm>
          <a:prstGeom prst="roundRect">
            <a:avLst>
              <a:gd name="adj" fmla="val 3846"/>
            </a:avLst>
          </a:prstGeom>
          <a:solidFill>
            <a:srgbClr val="F7F8F8"/>
          </a:solidFill>
          <a:ln w="12700">
            <a:solidFill>
              <a:srgbClr val="E1E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1920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PROMPT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“Tell me about robo-advisors in India.”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461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broad, generic overview — no specific ML technique, no business metrics, no sources.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440680" cy="2377440"/>
          </a:xfrm>
          <a:prstGeom prst="roundRect">
            <a:avLst>
              <a:gd name="adj" fmla="val 3846"/>
            </a:avLst>
          </a:prstGeom>
          <a:solidFill>
            <a:srgbClr val="1C7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00800" y="1920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PROMPT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2860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“Act as a fintech analyst. Explain how Scripbox uses AI/ML for risk profiling and fund recommendation — the specific technique, business benefits, risks, and cite reliable sources.”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3657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specific, structured, source-backed answer we could actually verify and use.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1C7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IMPROVED PROMPT WORKED BETTER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4928616"/>
            <a:ext cx="82296" cy="82296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77240" y="48463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Gave the AI a role (“fintech analyst”) to shape tone and depth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5385816"/>
            <a:ext cx="82296" cy="82296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77240" y="53035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the exact company and outcome needed, not a vague topic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5843016"/>
            <a:ext cx="82296" cy="82296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77240" y="57607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asked for sources — forcing verifiable, checkable output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CONCLUSION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Would Advise Scripbox to Do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11480" cy="411480"/>
          </a:xfrm>
          <a:prstGeom prst="ellipse">
            <a:avLst/>
          </a:prstGeom>
          <a:solidFill>
            <a:srgbClr val="0F2C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99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80136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the risk-profiling model periodically on real, audited client outcomes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50008"/>
            <a:ext cx="411480" cy="411480"/>
          </a:xfrm>
          <a:prstGeom prst="ellipse">
            <a:avLst/>
          </a:prstGeom>
          <a:solidFill>
            <a:srgbClr val="0F2C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48640" y="2350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9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368296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explainability dashboard so advisors can justify any AI recommendation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916936"/>
            <a:ext cx="411480" cy="411480"/>
          </a:xfrm>
          <a:prstGeom prst="ellipse">
            <a:avLst/>
          </a:prstGeom>
          <a:solidFill>
            <a:srgbClr val="0F2C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48640" y="29169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9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2935224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mandatory human advisor sign-off step for every AI-generated recommendation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483864"/>
            <a:ext cx="411480" cy="411480"/>
          </a:xfrm>
          <a:prstGeom prst="ellipse">
            <a:avLst/>
          </a:prstGeom>
          <a:solidFill>
            <a:srgbClr val="0F2C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48640" y="34838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99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50215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recommendation accuracy against current manual advisory outcomes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050792"/>
            <a:ext cx="411480" cy="411480"/>
          </a:xfrm>
          <a:prstGeom prst="ellipse">
            <a:avLst/>
          </a:prstGeom>
          <a:solidFill>
            <a:srgbClr val="0F2C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48640" y="4050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99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06908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Regularly audit the model for bias across age, income and gender groups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709160"/>
            <a:ext cx="11064240" cy="1600200"/>
          </a:xfrm>
          <a:prstGeom prst="roundRect">
            <a:avLst>
              <a:gd name="adj" fmla="val 5714"/>
            </a:avLst>
          </a:prstGeom>
          <a:solidFill>
            <a:srgbClr val="0F2C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822960" y="4892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193792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lets Scripbox turn wealth management from a manual, advisor-limited service into a scalable, consistent and personalised one — but the technology should support human advisors, not replace their judgment or accountability.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C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REFLECTION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40462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79"/>
            <a:ext cx="3520440" cy="2705793"/>
          </a:xfrm>
          <a:prstGeom prst="roundRect">
            <a:avLst>
              <a:gd name="adj" fmla="val 3721"/>
            </a:avLst>
          </a:prstGeom>
          <a:solidFill>
            <a:srgbClr val="16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19659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+ AI together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AI solution starts from a clear business problem, not a model looking for a use case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97680" y="1783080"/>
            <a:ext cx="3520440" cy="2705792"/>
          </a:xfrm>
          <a:prstGeom prst="roundRect">
            <a:avLst>
              <a:gd name="adj" fmla="val 3721"/>
            </a:avLst>
          </a:prstGeom>
          <a:solidFill>
            <a:srgbClr val="16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526280" y="19659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 matters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46888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finance, a model must justify its decisions — accuracy alone isn't enough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46720" y="1783080"/>
            <a:ext cx="3520440" cy="2705792"/>
          </a:xfrm>
          <a:prstGeom prst="roundRect">
            <a:avLst>
              <a:gd name="adj" fmla="val 3721"/>
            </a:avLst>
          </a:prstGeom>
          <a:solidFill>
            <a:srgbClr val="16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275320" y="19659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Prompting is a skill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46888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role, specifics and “cite sources” turned vague AI answers into usable research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93192" y="845820"/>
            <a:ext cx="11064240" cy="640080"/>
          </a:xfrm>
          <a:prstGeom prst="roundRect">
            <a:avLst>
              <a:gd name="adj" fmla="val 50000"/>
            </a:avLst>
          </a:prstGeom>
          <a:solidFill>
            <a:srgbClr val="C9A24B"/>
          </a:solidFill>
          <a:ln/>
        </p:spPr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Took Away From This Project</a:t>
            </a:r>
            <a:endParaRPr lang="en-US" sz="2800" dirty="0"/>
          </a:p>
          <a:p>
            <a:endParaRPr lang="en-US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53492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C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GitHub Repositories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20000"/>
            <a:ext cx="11091672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repositories submitted by each team member for this project</a:t>
            </a:r>
            <a:endParaRPr lang="en-US" sz="1300" dirty="0"/>
          </a:p>
        </p:txBody>
      </p:sp>
      <p:sp>
        <p:nvSpPr>
          <p:cNvPr id="5" name="Card 0"/>
          <p:cNvSpPr/>
          <p:nvPr/>
        </p:nvSpPr>
        <p:spPr>
          <a:xfrm>
            <a:off x="548640" y="2050000"/>
            <a:ext cx="3520440" cy="1850000"/>
          </a:xfrm>
          <a:prstGeom prst="roundRect">
            <a:avLst>
              <a:gd name="adj" fmla="val 3721"/>
            </a:avLst>
          </a:prstGeom>
          <a:solidFill>
            <a:srgbClr val="16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Label 0"/>
          <p:cNvSpPr txBox="1"/>
          <p:nvPr/>
        </p:nvSpPr>
        <p:spPr>
          <a:xfrm>
            <a:off x="822960" y="22786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50" dirty="0"/>
          </a:p>
        </p:txBody>
      </p:sp>
      <p:sp>
        <p:nvSpPr>
          <p:cNvPr id="7" name="Name 0"/>
          <p:cNvSpPr txBox="1"/>
          <p:nvPr/>
        </p:nvSpPr>
        <p:spPr>
          <a:xfrm>
            <a:off x="822960" y="2644000"/>
            <a:ext cx="29718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Arush</a:t>
            </a:r>
            <a:endParaRPr lang="en-US" sz="1600" dirty="0"/>
          </a:p>
        </p:txBody>
      </p:sp>
      <p:sp>
        <p:nvSpPr>
          <p:cNvPr id="8" name="Link 0"/>
          <p:cNvSpPr txBox="1"/>
          <p:nvPr/>
        </p:nvSpPr>
        <p:spPr>
          <a:xfrm>
            <a:off x="822960" y="3170000"/>
            <a:ext cx="29718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github.com/doomraarush-sudo</a:t>
            </a:r>
            <a:endParaRPr lang="en-US" sz="1050" dirty="0"/>
          </a:p>
        </p:txBody>
      </p:sp>
      <p:sp>
        <p:nvSpPr>
          <p:cNvPr id="9" name="Card 1"/>
          <p:cNvSpPr/>
          <p:nvPr/>
        </p:nvSpPr>
        <p:spPr>
          <a:xfrm>
            <a:off x="4297680" y="2050000"/>
            <a:ext cx="3520440" cy="1850000"/>
          </a:xfrm>
          <a:prstGeom prst="roundRect">
            <a:avLst>
              <a:gd name="adj" fmla="val 3721"/>
            </a:avLst>
          </a:prstGeom>
          <a:solidFill>
            <a:srgbClr val="16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Label 1"/>
          <p:cNvSpPr txBox="1"/>
          <p:nvPr/>
        </p:nvSpPr>
        <p:spPr>
          <a:xfrm>
            <a:off x="4572000" y="22786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50" dirty="0"/>
          </a:p>
        </p:txBody>
      </p:sp>
      <p:sp>
        <p:nvSpPr>
          <p:cNvPr id="11" name="Name 1"/>
          <p:cNvSpPr txBox="1"/>
          <p:nvPr/>
        </p:nvSpPr>
        <p:spPr>
          <a:xfrm>
            <a:off x="4572000" y="2644000"/>
            <a:ext cx="29718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Abhay Trehan</a:t>
            </a:r>
            <a:endParaRPr lang="en-US" sz="1600" dirty="0"/>
          </a:p>
        </p:txBody>
      </p:sp>
      <p:sp>
        <p:nvSpPr>
          <p:cNvPr id="12" name="Link 1"/>
          <p:cNvSpPr txBox="1"/>
          <p:nvPr/>
        </p:nvSpPr>
        <p:spPr>
          <a:xfrm>
            <a:off x="4572000" y="3170000"/>
            <a:ext cx="29718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github.com/abhay2506bbafai25-web</a:t>
            </a:r>
            <a:endParaRPr lang="en-US" sz="1050" dirty="0"/>
          </a:p>
        </p:txBody>
      </p:sp>
      <p:sp>
        <p:nvSpPr>
          <p:cNvPr id="13" name="Card 2"/>
          <p:cNvSpPr/>
          <p:nvPr/>
        </p:nvSpPr>
        <p:spPr>
          <a:xfrm>
            <a:off x="8046720" y="2050000"/>
            <a:ext cx="3520440" cy="1850000"/>
          </a:xfrm>
          <a:prstGeom prst="roundRect">
            <a:avLst>
              <a:gd name="adj" fmla="val 3721"/>
            </a:avLst>
          </a:prstGeom>
          <a:solidFill>
            <a:srgbClr val="16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Label 2"/>
          <p:cNvSpPr txBox="1"/>
          <p:nvPr/>
        </p:nvSpPr>
        <p:spPr>
          <a:xfrm>
            <a:off x="8321040" y="22786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50" dirty="0"/>
          </a:p>
        </p:txBody>
      </p:sp>
      <p:sp>
        <p:nvSpPr>
          <p:cNvPr id="15" name="Name 2"/>
          <p:cNvSpPr txBox="1"/>
          <p:nvPr/>
        </p:nvSpPr>
        <p:spPr>
          <a:xfrm>
            <a:off x="8321040" y="2644000"/>
            <a:ext cx="29718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Harry Chalana</a:t>
            </a:r>
            <a:endParaRPr lang="en-US" sz="1600" dirty="0"/>
          </a:p>
        </p:txBody>
      </p:sp>
      <p:sp>
        <p:nvSpPr>
          <p:cNvPr id="16" name="Link 2"/>
          <p:cNvSpPr txBox="1"/>
          <p:nvPr/>
        </p:nvSpPr>
        <p:spPr>
          <a:xfrm>
            <a:off x="8321040" y="3170000"/>
            <a:ext cx="29718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github.com/chalanaharry-pixel</a:t>
            </a:r>
            <a:endParaRPr lang="en-US" sz="1050" dirty="0"/>
          </a:p>
        </p:txBody>
      </p:sp>
      <p:sp>
        <p:nvSpPr>
          <p:cNvPr id="17" name="Card 3"/>
          <p:cNvSpPr/>
          <p:nvPr/>
        </p:nvSpPr>
        <p:spPr>
          <a:xfrm>
            <a:off x="548640" y="4128600"/>
            <a:ext cx="3520440" cy="1850000"/>
          </a:xfrm>
          <a:prstGeom prst="roundRect">
            <a:avLst>
              <a:gd name="adj" fmla="val 3721"/>
            </a:avLst>
          </a:prstGeom>
          <a:solidFill>
            <a:srgbClr val="16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Label 3"/>
          <p:cNvSpPr txBox="1"/>
          <p:nvPr/>
        </p:nvSpPr>
        <p:spPr>
          <a:xfrm>
            <a:off x="822960" y="43572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50" dirty="0"/>
          </a:p>
        </p:txBody>
      </p:sp>
      <p:sp>
        <p:nvSpPr>
          <p:cNvPr id="19" name="Name 3"/>
          <p:cNvSpPr txBox="1"/>
          <p:nvPr/>
        </p:nvSpPr>
        <p:spPr>
          <a:xfrm>
            <a:off x="822960" y="4722600"/>
            <a:ext cx="29718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Hardik Gagneja</a:t>
            </a:r>
            <a:endParaRPr lang="en-US" sz="1600" dirty="0"/>
          </a:p>
        </p:txBody>
      </p:sp>
      <p:sp>
        <p:nvSpPr>
          <p:cNvPr id="20" name="Link 3"/>
          <p:cNvSpPr txBox="1"/>
          <p:nvPr/>
        </p:nvSpPr>
        <p:spPr>
          <a:xfrm>
            <a:off x="822960" y="5248600"/>
            <a:ext cx="29718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github.com/hardik2606bbafai25-spec</a:t>
            </a:r>
            <a:endParaRPr lang="en-US" sz="1050" dirty="0"/>
          </a:p>
        </p:txBody>
      </p:sp>
      <p:sp>
        <p:nvSpPr>
          <p:cNvPr id="21" name="Card 4"/>
          <p:cNvSpPr/>
          <p:nvPr/>
        </p:nvSpPr>
        <p:spPr>
          <a:xfrm>
            <a:off x="4297680" y="4128600"/>
            <a:ext cx="3520440" cy="1850000"/>
          </a:xfrm>
          <a:prstGeom prst="roundRect">
            <a:avLst>
              <a:gd name="adj" fmla="val 3721"/>
            </a:avLst>
          </a:prstGeom>
          <a:solidFill>
            <a:srgbClr val="16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Label 4"/>
          <p:cNvSpPr txBox="1"/>
          <p:nvPr/>
        </p:nvSpPr>
        <p:spPr>
          <a:xfrm>
            <a:off x="4572000" y="43572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50" dirty="0"/>
          </a:p>
        </p:txBody>
      </p:sp>
      <p:sp>
        <p:nvSpPr>
          <p:cNvPr id="23" name="Name 4"/>
          <p:cNvSpPr txBox="1"/>
          <p:nvPr/>
        </p:nvSpPr>
        <p:spPr>
          <a:xfrm>
            <a:off x="4572000" y="4722600"/>
            <a:ext cx="29718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Kartik Juneja</a:t>
            </a:r>
            <a:endParaRPr lang="en-US" sz="1600" dirty="0"/>
          </a:p>
        </p:txBody>
      </p:sp>
      <p:sp>
        <p:nvSpPr>
          <p:cNvPr id="24" name="Link 4"/>
          <p:cNvSpPr txBox="1"/>
          <p:nvPr/>
        </p:nvSpPr>
        <p:spPr>
          <a:xfrm>
            <a:off x="4572000" y="5248600"/>
            <a:ext cx="29718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github.com/junejakartik725-cell</a:t>
            </a:r>
            <a:endParaRPr lang="en-US" sz="1050" dirty="0"/>
          </a:p>
        </p:txBody>
      </p:sp>
      <p:sp>
        <p:nvSpPr>
          <p:cNvPr id="25" name="Card 5"/>
          <p:cNvSpPr/>
          <p:nvPr/>
        </p:nvSpPr>
        <p:spPr>
          <a:xfrm>
            <a:off x="8046720" y="4128600"/>
            <a:ext cx="3520440" cy="1850000"/>
          </a:xfrm>
          <a:prstGeom prst="roundRect">
            <a:avLst>
              <a:gd name="adj" fmla="val 3721"/>
            </a:avLst>
          </a:prstGeom>
          <a:solidFill>
            <a:srgbClr val="16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Label 5"/>
          <p:cNvSpPr txBox="1"/>
          <p:nvPr/>
        </p:nvSpPr>
        <p:spPr>
          <a:xfrm>
            <a:off x="8321040" y="43572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50" dirty="0"/>
          </a:p>
        </p:txBody>
      </p:sp>
      <p:sp>
        <p:nvSpPr>
          <p:cNvPr id="27" name="Name 5"/>
          <p:cNvSpPr txBox="1"/>
          <p:nvPr/>
        </p:nvSpPr>
        <p:spPr>
          <a:xfrm>
            <a:off x="8321040" y="4722600"/>
            <a:ext cx="29718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Gurkimat Singh</a:t>
            </a:r>
            <a:endParaRPr lang="en-US" sz="1600" dirty="0"/>
          </a:p>
        </p:txBody>
      </p:sp>
      <p:sp>
        <p:nvSpPr>
          <p:cNvPr id="28" name="Link 5"/>
          <p:cNvSpPr txBox="1"/>
          <p:nvPr/>
        </p:nvSpPr>
        <p:spPr>
          <a:xfrm>
            <a:off x="8321040" y="5248600"/>
            <a:ext cx="29718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github.com/gurkimat</a:t>
            </a:r>
            <a:endParaRPr lang="en-US" sz="1050" dirty="0"/>
          </a:p>
        </p:txBody>
      </p:sp>
      <p:sp>
        <p:nvSpPr>
          <p:cNvPr id="29" name="Text page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1337</Words>
  <Application>Microsoft Macintosh PowerPoint</Application>
  <PresentationFormat>Widescreen</PresentationFormat>
  <Paragraphs>204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Abhay Trehan</cp:lastModifiedBy>
  <cp:revision>3</cp:revision>
  <dcterms:created xsi:type="dcterms:W3CDTF">2026-09-16T18:40:36Z</dcterms:created>
  <dcterms:modified xsi:type="dcterms:W3CDTF">2026-09-17T11:48:35Z</dcterms:modified>
</cp:coreProperties>
</file>